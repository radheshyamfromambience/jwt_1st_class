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3"/>
  </p:normalViewPr>
  <p:slideViewPr>
    <p:cSldViewPr snapToGrid="0">
      <p:cViewPr varScale="1">
        <p:scale>
          <a:sx n="114" d="100"/>
          <a:sy n="114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806A-875D-59CF-FDCD-071226044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26117-3499-6F39-319A-0A6BA0926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694E2-3743-F1D1-DDD9-3CC12196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3A0D7-6F4B-B103-3382-DBB5F1A3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4C5EE-7CA9-BAD6-EF78-1C2A07E9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2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F41D-BF02-4236-6E99-DDBFEB16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A4853-BF39-F98E-985B-3FE0E09EE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0BF78-8C58-3200-0E56-A18D2373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2C151-8E00-CF78-F438-EA53F4D23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0626B-30A4-9FAC-754D-5F9D0165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5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837E-F3B6-0F12-D796-2B38B25D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C8904-5B32-5667-F847-AE0747B3C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DF894-DF96-F963-BB58-6CBF0BA4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BE89A-DC49-3D35-FF49-2274F423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54810-8526-601B-F279-B79EF458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7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4D4A-C6DF-65A6-D8A2-57E538B0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AD6D4-02FD-530E-E6F3-F3BBD5495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3A31B-12EE-AB02-BA87-9185B610C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AB3A2-37F4-7F5B-E48E-4040FB46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91233-4D9D-3815-09FF-7AAEFA42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28D81-C42E-7A88-8CBA-1B6A5D69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5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9E9D-1C4E-ED00-6F7F-D1711F33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924F5-FA44-15A2-1EC7-EACF0A436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6B3E-8290-A966-6FB9-3C2FADBB7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B9B20-4C9D-E277-BB32-560BD5F47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5C778-9D65-F8AA-C808-AC7AB0D1F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65588-BD5B-3AF6-CBEB-D4EFC1D1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440CB-61DD-0002-5AB2-97F2CE69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AC725-B7ED-D3A1-30FC-35BF3815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4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4B8C-E9BC-E4C9-6352-15444B44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0D410-83CE-53DC-69D6-194A4637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97C15-D529-BDC9-BDAA-216D11E3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9E9FB-47A5-8A70-6A75-D6BB288F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0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48A5B-10DC-0ECC-1871-D0EA6303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0072E-E00A-5D85-FC45-ABDA46DA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60F15-282A-7098-D08E-F2EC4C47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5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6C52-1404-897E-EA45-6BD38953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DA17E-7A50-69FC-0FA4-7F2CE0FA9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15D0F-EC40-EA01-D5AA-5A3E66149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4768A-ED8F-7B6B-A2AE-5777107A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3388A-15D0-3F9E-70E3-B3557A25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D0F8C-57F1-E035-7701-78008A48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2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CEB6-1164-09C8-93DE-BC275EBC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92824-6AFA-F010-DF8E-A0B51F165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97DA2-9108-4E3E-DB8A-AE249EF59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6BD1A-DF0C-F3CD-16E9-8205E7AD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3ACDB-4E4B-BE69-F035-9F1DABB2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4495A-8DA8-C525-CE7A-5A82A6B0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0EDC-97E2-5B74-2998-39F505F0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9F1A8-2472-F07F-AC1A-1C4CF8ED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5027B-AA16-BC82-0694-CBB51172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E12F-5B21-5B0B-9028-7E1036B8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FE4F0-0CCD-8015-BFE3-5E0A625A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2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205A7-7655-29CF-F1F6-B4A152981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BF25F-A8AC-F670-A542-BB0299366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9699B-9B93-E121-B0BB-FFB78943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DEE8-E9CA-87B5-1C4D-A0A72FB0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D98A-7D94-D110-388A-32CF4497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FC184-3DC4-008F-E2C6-D4A6328B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B7BF1-07F6-F471-D32E-FE85B8778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A94DD-2DD8-CA33-68C5-D9A2210D1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2E218-FE09-C748-8F65-3566867581D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401E3-3DD4-DDBF-D598-BB9FC1396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5210B-FF6C-B05F-E90B-5FB43535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28D09-08D0-B04F-89D1-E96915CB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5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C9B8-5567-CB62-CD1C-5240AC734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JWT (JSON Web Token)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4B836-85F7-B6A2-1471-4465CDC28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1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7DD6EA-8D96-2128-B25B-E55C759B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What is JWT?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54FF7-B78F-0A49-027F-B08821AB4251}"/>
              </a:ext>
            </a:extLst>
          </p:cNvPr>
          <p:cNvSpPr txBox="1"/>
          <p:nvPr/>
        </p:nvSpPr>
        <p:spPr>
          <a:xfrm>
            <a:off x="1042639" y="1690688"/>
            <a:ext cx="103985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JWT stands for JSON Web Token. It is an open standard used to securely transfer information between two parties in the form of a JSON object.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MERN Stack development, JWT is commonly used for Authentication and Authorization.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Example: </a:t>
            </a:r>
            <a:r>
              <a:rPr lang="hi" dirty="0"/>
              <a:t>जब कोई </a:t>
            </a:r>
            <a:r>
              <a:rPr lang="en-IN" dirty="0"/>
              <a:t>student Ambience Computer Education </a:t>
            </a:r>
            <a:r>
              <a:rPr lang="hi" dirty="0"/>
              <a:t>के </a:t>
            </a:r>
            <a:r>
              <a:rPr lang="en-IN" dirty="0"/>
              <a:t>LMS Portal </a:t>
            </a:r>
            <a:r>
              <a:rPr lang="hi" dirty="0"/>
              <a:t>में </a:t>
            </a:r>
            <a:r>
              <a:rPr lang="en-IN" dirty="0"/>
              <a:t>login </a:t>
            </a:r>
            <a:r>
              <a:rPr lang="hi" dirty="0"/>
              <a:t>करता है, तो </a:t>
            </a:r>
            <a:r>
              <a:rPr lang="en-IN" dirty="0"/>
              <a:t>server successful login </a:t>
            </a:r>
            <a:r>
              <a:rPr lang="hi" dirty="0"/>
              <a:t>के बाद </a:t>
            </a:r>
            <a:r>
              <a:rPr lang="en-IN" dirty="0"/>
              <a:t>JWT token generate </a:t>
            </a:r>
            <a:r>
              <a:rPr lang="hi" dirty="0"/>
              <a:t>कर सकता है। </a:t>
            </a:r>
            <a:r>
              <a:rPr lang="en-IN" dirty="0"/>
              <a:t>Student </a:t>
            </a:r>
            <a:r>
              <a:rPr lang="hi" dirty="0"/>
              <a:t>इस </a:t>
            </a:r>
            <a:r>
              <a:rPr lang="en-IN" dirty="0"/>
              <a:t>token </a:t>
            </a:r>
            <a:r>
              <a:rPr lang="hi" dirty="0"/>
              <a:t>का उपयोग </a:t>
            </a:r>
            <a:r>
              <a:rPr lang="en-IN" dirty="0"/>
              <a:t>protected pages </a:t>
            </a:r>
            <a:r>
              <a:rPr lang="hi" dirty="0"/>
              <a:t>और </a:t>
            </a:r>
            <a:r>
              <a:rPr lang="en-IN" dirty="0"/>
              <a:t>APIs </a:t>
            </a:r>
            <a:r>
              <a:rPr lang="hi" dirty="0"/>
              <a:t>को </a:t>
            </a:r>
            <a:r>
              <a:rPr lang="en-IN" dirty="0"/>
              <a:t>access </a:t>
            </a:r>
            <a:r>
              <a:rPr lang="hi" dirty="0"/>
              <a:t>करने के लिए करता है।</a:t>
            </a:r>
          </a:p>
        </p:txBody>
      </p:sp>
    </p:spTree>
    <p:extLst>
      <p:ext uri="{BB962C8B-B14F-4D97-AF65-F5344CB8AC3E}">
        <p14:creationId xmlns:p14="http://schemas.microsoft.com/office/powerpoint/2010/main" val="280432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F041-952A-8762-4D24-79A0B18C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Why do we use JWT?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2F838-2AFF-4B22-7C3C-878740B59E4F}"/>
              </a:ext>
            </a:extLst>
          </p:cNvPr>
          <p:cNvSpPr txBox="1"/>
          <p:nvPr/>
        </p:nvSpPr>
        <p:spPr>
          <a:xfrm>
            <a:off x="1477537" y="1690688"/>
            <a:ext cx="6099716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User authentication (login verification)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Authorization (role-based access)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Protecting private API routes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Maintaining user identity across requests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Stateless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26074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9F60-03A2-F76D-4663-CBD0916E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JWT Works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3AE7F7-4F9A-CB3C-6791-3609B76945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25" b="25017"/>
          <a:stretch/>
        </p:blipFill>
        <p:spPr>
          <a:xfrm>
            <a:off x="1558692" y="1954480"/>
            <a:ext cx="9650142" cy="29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3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87E1-C54B-A107-3C84-B57079A9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Structure of JWT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5C599-6DFF-705B-FF5D-B6182625BD46}"/>
              </a:ext>
            </a:extLst>
          </p:cNvPr>
          <p:cNvSpPr txBox="1"/>
          <p:nvPr/>
        </p:nvSpPr>
        <p:spPr>
          <a:xfrm>
            <a:off x="1901283" y="1321356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JWT contains three parts separated by dots (.).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776CC-6415-8B94-3753-14A591AB58D1}"/>
              </a:ext>
            </a:extLst>
          </p:cNvPr>
          <p:cNvSpPr txBox="1"/>
          <p:nvPr/>
        </p:nvSpPr>
        <p:spPr>
          <a:xfrm>
            <a:off x="1901283" y="1838282"/>
            <a:ext cx="3691052" cy="535543"/>
          </a:xfrm>
          <a:prstGeom prst="roundRect">
            <a:avLst>
              <a:gd name="adj" fmla="val 25636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2000" dirty="0" err="1"/>
              <a:t>xxxxx.yyyyy.zzzzz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63C7C-3827-2BCE-BC31-7DE830033399}"/>
              </a:ext>
            </a:extLst>
          </p:cNvPr>
          <p:cNvSpPr txBox="1"/>
          <p:nvPr/>
        </p:nvSpPr>
        <p:spPr>
          <a:xfrm>
            <a:off x="983167" y="2535407"/>
            <a:ext cx="3233854" cy="2678073"/>
          </a:xfrm>
          <a:prstGeom prst="roundRect">
            <a:avLst>
              <a:gd name="adj" fmla="val 8481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sz="1600" dirty="0"/>
              <a:t>1. Header</a:t>
            </a:r>
          </a:p>
          <a:p>
            <a:r>
              <a:rPr lang="en-IN" sz="1600" dirty="0"/>
              <a:t>Contains token type and signing algorithm.</a:t>
            </a:r>
          </a:p>
          <a:p>
            <a:endParaRPr lang="en-IN" sz="1600" dirty="0"/>
          </a:p>
          <a:p>
            <a:r>
              <a:rPr lang="en-IN" sz="1600" dirty="0"/>
              <a:t>{ </a:t>
            </a:r>
          </a:p>
          <a:p>
            <a:r>
              <a:rPr lang="en-IN" sz="1600" dirty="0"/>
              <a:t>"</a:t>
            </a:r>
            <a:r>
              <a:rPr lang="en-IN" sz="1600" dirty="0" err="1"/>
              <a:t>alg</a:t>
            </a:r>
            <a:r>
              <a:rPr lang="en-IN" sz="1600" dirty="0"/>
              <a:t>": "HS256", </a:t>
            </a:r>
          </a:p>
          <a:p>
            <a:r>
              <a:rPr lang="en-IN" sz="1600" dirty="0"/>
              <a:t>"</a:t>
            </a:r>
            <a:r>
              <a:rPr lang="en-IN" sz="1600" dirty="0" err="1"/>
              <a:t>typ</a:t>
            </a:r>
            <a:r>
              <a:rPr lang="en-IN" sz="1600" dirty="0"/>
              <a:t>": "JWT" </a:t>
            </a:r>
          </a:p>
          <a:p>
            <a:r>
              <a:rPr lang="en-IN" sz="1600" dirty="0"/>
              <a:t>}</a:t>
            </a:r>
          </a:p>
          <a:p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E154D-01DD-2459-A1F0-C41D12A708DC}"/>
              </a:ext>
            </a:extLst>
          </p:cNvPr>
          <p:cNvSpPr txBox="1"/>
          <p:nvPr/>
        </p:nvSpPr>
        <p:spPr>
          <a:xfrm>
            <a:off x="4492083" y="2535407"/>
            <a:ext cx="3233854" cy="2678073"/>
          </a:xfrm>
          <a:prstGeom prst="roundRect">
            <a:avLst>
              <a:gd name="adj" fmla="val 848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sz="1600" dirty="0"/>
              <a:t>2. Payload</a:t>
            </a:r>
          </a:p>
          <a:p>
            <a:r>
              <a:rPr lang="en-IN" sz="1600" dirty="0"/>
              <a:t>Contains claims such as user ID, role and expiry.</a:t>
            </a:r>
          </a:p>
          <a:p>
            <a:endParaRPr lang="en-IN" sz="1600" dirty="0"/>
          </a:p>
          <a:p>
            <a:r>
              <a:rPr lang="en-IN" sz="1600" dirty="0"/>
              <a:t>{ </a:t>
            </a:r>
          </a:p>
          <a:p>
            <a:r>
              <a:rPr lang="en-IN" sz="1600" dirty="0"/>
              <a:t>"</a:t>
            </a:r>
            <a:r>
              <a:rPr lang="en-IN" sz="1600" dirty="0" err="1"/>
              <a:t>userId</a:t>
            </a:r>
            <a:r>
              <a:rPr lang="en-IN" sz="1600" dirty="0"/>
              <a:t>": "123", </a:t>
            </a:r>
          </a:p>
          <a:p>
            <a:r>
              <a:rPr lang="en-IN" sz="1600" dirty="0"/>
              <a:t>"role": "student”</a:t>
            </a:r>
          </a:p>
          <a:p>
            <a:r>
              <a:rPr lang="en-IN" sz="1600" dirty="0"/>
              <a:t>}</a:t>
            </a:r>
          </a:p>
          <a:p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E0518-D0BB-F104-79AB-913893098245}"/>
              </a:ext>
            </a:extLst>
          </p:cNvPr>
          <p:cNvSpPr txBox="1"/>
          <p:nvPr/>
        </p:nvSpPr>
        <p:spPr>
          <a:xfrm>
            <a:off x="8000999" y="2535407"/>
            <a:ext cx="3233854" cy="2678073"/>
          </a:xfrm>
          <a:prstGeom prst="roundRect">
            <a:avLst>
              <a:gd name="adj" fmla="val 8481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sz="1600" dirty="0"/>
              <a:t>3. Signature</a:t>
            </a:r>
          </a:p>
          <a:p>
            <a:r>
              <a:rPr lang="en-IN" sz="1600" dirty="0"/>
              <a:t>Verifies that the token has not been altered and was signed using the expected key.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64FDF-8E32-460B-79AE-6AC42291E0EF}"/>
              </a:ext>
            </a:extLst>
          </p:cNvPr>
          <p:cNvSpPr txBox="1"/>
          <p:nvPr/>
        </p:nvSpPr>
        <p:spPr>
          <a:xfrm>
            <a:off x="838200" y="5536644"/>
            <a:ext cx="10396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Important: JWT payload is generally encoded, not encrypted. Anyone possessing a normal JWT can decode its payload. Never store passwords or sensitive personal data in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3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10FB-6E3B-73FB-8080-4759480F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Authentication vs Authorization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5FE3AF-4A5C-2EBD-69CD-138DA337F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791366"/>
              </p:ext>
            </p:extLst>
          </p:nvPr>
        </p:nvGraphicFramePr>
        <p:xfrm>
          <a:off x="1828800" y="1810654"/>
          <a:ext cx="95250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25590">
                  <a:extLst>
                    <a:ext uri="{9D8B030D-6E8A-4147-A177-3AD203B41FA5}">
                      <a16:colId xmlns:a16="http://schemas.microsoft.com/office/drawing/2014/main" val="1686679536"/>
                    </a:ext>
                  </a:extLst>
                </a:gridCol>
                <a:gridCol w="5499410">
                  <a:extLst>
                    <a:ext uri="{9D8B030D-6E8A-4147-A177-3AD203B41FA5}">
                      <a16:colId xmlns:a16="http://schemas.microsoft.com/office/drawing/2014/main" val="288180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Authorization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682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Who are you?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What can you access?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75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Verifies user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Checks user permissions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718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Example: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Example: Admin-only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45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Often performed 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Follows identity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49036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BB16C7F-E72C-0CDB-BC4C-F77416D6B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9312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24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A769-F48D-C422-8F0C-FEC0C2B40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JWT vs Session Authentication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39FFA4-C9D1-822C-4F44-2F42C866F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29460"/>
              </p:ext>
            </p:extLst>
          </p:nvPr>
        </p:nvGraphicFramePr>
        <p:xfrm>
          <a:off x="1694985" y="1742417"/>
          <a:ext cx="90678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96680">
                  <a:extLst>
                    <a:ext uri="{9D8B030D-6E8A-4147-A177-3AD203B41FA5}">
                      <a16:colId xmlns:a16="http://schemas.microsoft.com/office/drawing/2014/main" val="1316651363"/>
                    </a:ext>
                  </a:extLst>
                </a:gridCol>
                <a:gridCol w="5271120">
                  <a:extLst>
                    <a:ext uri="{9D8B030D-6E8A-4147-A177-3AD203B41FA5}">
                      <a16:colId xmlns:a16="http://schemas.microsoft.com/office/drawing/2014/main" val="4062342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JWT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5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Token carries claims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Server stores session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02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Often stateless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Usually stateful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78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Commonly sent as a bearer 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Commonly identified by a session cookie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2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Revocation requires additional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Session can often be invalidated server-side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93727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D553504-08DC-25CE-43AA-AEFD18D97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814" y="4743863"/>
            <a:ext cx="96359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Neither method is automatically more secure. Security depends on implementation, storage,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expiration and revocation.</a:t>
            </a:r>
          </a:p>
        </p:txBody>
      </p:sp>
    </p:spTree>
    <p:extLst>
      <p:ext uri="{BB962C8B-B14F-4D97-AF65-F5344CB8AC3E}">
        <p14:creationId xmlns:p14="http://schemas.microsoft.com/office/powerpoint/2010/main" val="218864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2546-6F78-F2CF-BDAB-CE031D74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JWT in Node.js and </a:t>
            </a:r>
            <a:r>
              <a:rPr lang="en-IN" dirty="0" err="1"/>
              <a:t>Express.js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79AFD-3CA1-4AD9-C938-B4D3E6A4FAB0}"/>
              </a:ext>
            </a:extLst>
          </p:cNvPr>
          <p:cNvSpPr txBox="1"/>
          <p:nvPr/>
        </p:nvSpPr>
        <p:spPr>
          <a:xfrm>
            <a:off x="1198756" y="1506022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1: Install packages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34282-46B7-D672-AAD5-F547BD028994}"/>
              </a:ext>
            </a:extLst>
          </p:cNvPr>
          <p:cNvSpPr txBox="1"/>
          <p:nvPr/>
        </p:nvSpPr>
        <p:spPr>
          <a:xfrm>
            <a:off x="1559312" y="187535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npm</a:t>
            </a:r>
            <a:r>
              <a:rPr lang="en-US" dirty="0"/>
              <a:t> install express </a:t>
            </a:r>
            <a:r>
              <a:rPr lang="en-US" dirty="0" err="1"/>
              <a:t>jsonwebtoken</a:t>
            </a:r>
            <a:r>
              <a:rPr lang="en-US" dirty="0"/>
              <a:t> </a:t>
            </a:r>
            <a:r>
              <a:rPr lang="en-US" dirty="0" err="1"/>
              <a:t>dotenv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7B8C9-828D-FE18-1A0E-F852C85971E1}"/>
              </a:ext>
            </a:extLst>
          </p:cNvPr>
          <p:cNvSpPr txBox="1"/>
          <p:nvPr/>
        </p:nvSpPr>
        <p:spPr>
          <a:xfrm>
            <a:off x="1198755" y="2429352"/>
            <a:ext cx="938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a real login system, also install a password-hashing library such as </a:t>
            </a:r>
            <a:r>
              <a:rPr lang="en-IN" dirty="0" err="1"/>
              <a:t>bcrypt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E1179-4135-495A-2B4D-DBE4B675B495}"/>
              </a:ext>
            </a:extLst>
          </p:cNvPr>
          <p:cNvSpPr txBox="1"/>
          <p:nvPr/>
        </p:nvSpPr>
        <p:spPr>
          <a:xfrm>
            <a:off x="1198756" y="3179838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2: Create a .env file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A0876-D82B-4D75-47B5-B9E556194F2F}"/>
              </a:ext>
            </a:extLst>
          </p:cNvPr>
          <p:cNvSpPr txBox="1"/>
          <p:nvPr/>
        </p:nvSpPr>
        <p:spPr>
          <a:xfrm>
            <a:off x="1559312" y="3745658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JWT_SECRET=</a:t>
            </a:r>
            <a:r>
              <a:rPr lang="en-US" dirty="0" err="1"/>
              <a:t>replace_with_a_long_random_secret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BE233-617B-0B1E-D03E-544C379AB45C}"/>
              </a:ext>
            </a:extLst>
          </p:cNvPr>
          <p:cNvSpPr txBox="1"/>
          <p:nvPr/>
        </p:nvSpPr>
        <p:spPr>
          <a:xfrm>
            <a:off x="1559312" y="4332629"/>
            <a:ext cx="8867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Generate a strong random secret and never commit .env to GitHub.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5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09D9-DFB2-393D-BBCE-DDC68E67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3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1712-2BD3-7CAE-06EE-27CBB587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29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C1E9-EA1A-BFDF-C91F-B9E8A6A8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7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D132-07AF-CD55-A7BF-8971EC61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17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460B-5E53-8DCC-24BE-DB9DD5A9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5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82ED-CFA0-C793-0470-222CE780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78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29CF-D30B-1E74-0000-8AFD9F54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1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420</Words>
  <Application>Microsoft Macintosh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JWT (JSON Web Token)</vt:lpstr>
      <vt:lpstr>1. What is JWT?</vt:lpstr>
      <vt:lpstr>2. Why do we use JWT?</vt:lpstr>
      <vt:lpstr>How JWT Works</vt:lpstr>
      <vt:lpstr>4. Structure of JWT</vt:lpstr>
      <vt:lpstr>5. Authentication vs Authorization</vt:lpstr>
      <vt:lpstr>6. JWT vs Session Authentication</vt:lpstr>
      <vt:lpstr>7. JWT in Node.js and Express.js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JWT (JSON Web Token)</dc:title>
  <dc:creator>Microsoft Office User</dc:creator>
  <cp:lastModifiedBy>Microsoft Office User</cp:lastModifiedBy>
  <cp:revision>1</cp:revision>
  <dcterms:created xsi:type="dcterms:W3CDTF">2026-10-16T04:15:35Z</dcterms:created>
  <dcterms:modified xsi:type="dcterms:W3CDTF">2026-10-16T05:06:35Z</dcterms:modified>
</cp:coreProperties>
</file>